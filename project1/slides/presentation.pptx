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68487"/>
            <a:ext cx="715076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Service-Oriented Communication Technologies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9600" y="2497187"/>
            <a:ext cx="609600" cy="38100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840087"/>
            <a:ext cx="71507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800"/>
              </a:spcAft>
              <a:buNone/>
            </a:pPr>
            <a:r>
              <a:rPr lang="en-US" sz="14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Comparative Study: SOAP · REST · GraphQL · gRPC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3405188"/>
            <a:ext cx="71507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ADC6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Salim LAKHAL — Nossa IYAMU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9600" y="3633788"/>
            <a:ext cx="71507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A8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CSC8603 — TELECOM SudParis — February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128099" y="0"/>
            <a:ext cx="1015901" cy="5143500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382000" y="3365599"/>
            <a:ext cx="203150" cy="1524000"/>
          </a:xfrm>
          <a:prstGeom prst="rect">
            <a:avLst/>
          </a:prstGeom>
          <a:solidFill>
            <a:srgbClr val="1A527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77724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62000" y="758726"/>
            <a:ext cx="457200" cy="25301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1037927"/>
            <a:ext cx="77724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100"/>
              </a:spcAft>
              <a:buNone/>
            </a:pPr>
            <a:r>
              <a:rPr lang="en-US" sz="15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pPr algn="l"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Introduction to SOA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1396603"/>
            <a:ext cx="77724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100"/>
              </a:spcAft>
              <a:buNone/>
            </a:pPr>
            <a:r>
              <a:rPr lang="en-US" sz="15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pPr algn="l"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SOAP / WSDL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2000" y="1755279"/>
            <a:ext cx="77724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100"/>
              </a:spcAft>
              <a:buNone/>
            </a:pPr>
            <a:r>
              <a:rPr lang="en-US" sz="15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pPr algn="l"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2000" y="2113955"/>
            <a:ext cx="77724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100"/>
              </a:spcAft>
              <a:buNone/>
            </a:pPr>
            <a:r>
              <a:rPr lang="en-US" sz="15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pPr algn="l"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GraphQL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2472630"/>
            <a:ext cx="77724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100"/>
              </a:spcAft>
              <a:buNone/>
            </a:pPr>
            <a:r>
              <a:rPr lang="en-US" sz="15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pPr algn="l"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gRPC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2000" y="2831306"/>
            <a:ext cx="77724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100"/>
              </a:spcAft>
              <a:buNone/>
            </a:pPr>
            <a:r>
              <a:rPr lang="en-US" sz="15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pPr algn="l"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Comparative Analysis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55550"/>
            <a:ext cx="839419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SOAP / WSDL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0151"/>
            <a:ext cx="507950" cy="25301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136303"/>
            <a:ext cx="3962400" cy="1117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Contract-first:</a:t>
            </a:r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WSDL defines service before code</a:t>
            </a:r>
            <a:endParaRPr lang="en-US" sz="1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XML messaging:</a:t>
            </a:r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verbose but self-describing</a:t>
            </a:r>
            <a:endParaRPr lang="en-US" sz="1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WS-* extensions:</a:t>
            </a:r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security, transactions, reliability</a:t>
            </a:r>
            <a:endParaRPr lang="en-US" sz="1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Strongly typed:</a:t>
            </a:r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XSD validation at protocol level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24400" y="1136303"/>
            <a:ext cx="3962400" cy="3442097"/>
          </a:xfrm>
          <a:prstGeom prst="roundRect">
            <a:avLst>
              <a:gd name="adj" fmla="val 1476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02101" y="1288703"/>
            <a:ext cx="36791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&lt;Envelope&gt;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902101" y="1447354"/>
            <a:ext cx="3679138" cy="133350"/>
          </a:xfrm>
          <a:prstGeom prst="rect">
            <a:avLst/>
          </a:prstGeom>
          <a:noFill/>
          <a:ln/>
        </p:spPr>
        <p:txBody>
          <a:bodyPr wrap="square" lIns="1778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902101" y="1606004"/>
            <a:ext cx="3679138" cy="133350"/>
          </a:xfrm>
          <a:prstGeom prst="rect">
            <a:avLst/>
          </a:prstGeom>
          <a:noFill/>
          <a:ln/>
        </p:spPr>
        <p:txBody>
          <a:bodyPr wrap="square" lIns="3556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&lt;CalculateRequest&gt;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02101" y="1764655"/>
            <a:ext cx="3679138" cy="133350"/>
          </a:xfrm>
          <a:prstGeom prst="rect">
            <a:avLst/>
          </a:prstGeom>
          <a:noFill/>
          <a:ln/>
        </p:spPr>
        <p:txBody>
          <a:bodyPr wrap="square" lIns="5334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&lt;operation&gt;ADD&lt;/operation&gt;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02101" y="1923306"/>
            <a:ext cx="3679138" cy="133350"/>
          </a:xfrm>
          <a:prstGeom prst="rect">
            <a:avLst/>
          </a:prstGeom>
          <a:noFill/>
          <a:ln/>
        </p:spPr>
        <p:txBody>
          <a:bodyPr wrap="square" lIns="5334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&lt;a&gt;15.5&lt;/a&gt;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02101" y="2081957"/>
            <a:ext cx="3679138" cy="133350"/>
          </a:xfrm>
          <a:prstGeom prst="rect">
            <a:avLst/>
          </a:prstGeom>
          <a:noFill/>
          <a:ln/>
        </p:spPr>
        <p:txBody>
          <a:bodyPr wrap="square" lIns="5334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&lt;b&gt;24.3&lt;/b&gt;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02101" y="2240607"/>
            <a:ext cx="3679138" cy="133350"/>
          </a:xfrm>
          <a:prstGeom prst="rect">
            <a:avLst/>
          </a:prstGeom>
          <a:noFill/>
          <a:ln/>
        </p:spPr>
        <p:txBody>
          <a:bodyPr wrap="square" lIns="3556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&lt;/CalculateRequest&gt;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02101" y="2399258"/>
            <a:ext cx="3679138" cy="133350"/>
          </a:xfrm>
          <a:prstGeom prst="rect">
            <a:avLst/>
          </a:prstGeom>
          <a:noFill/>
          <a:ln/>
        </p:spPr>
        <p:txBody>
          <a:bodyPr wrap="square" lIns="1778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02101" y="2557909"/>
            <a:ext cx="36791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&lt;/Envelope&gt;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705350"/>
            <a:ext cx="8394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A8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banking, healthcare, government, ERP integration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55550"/>
            <a:ext cx="839419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0151"/>
            <a:ext cx="507950" cy="25301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136303"/>
            <a:ext cx="3962400" cy="1117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Resource-oriented:</a:t>
            </a:r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URLs identify resources</a:t>
            </a:r>
            <a:endParaRPr lang="en-US" sz="1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semantics:</a:t>
            </a:r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GET / POST / PUT / DELETE</a:t>
            </a:r>
            <a:endParaRPr lang="en-US" sz="1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Stateless:</a:t>
            </a:r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server-side session</a:t>
            </a:r>
            <a:endParaRPr lang="en-US" sz="1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caching:</a:t>
            </a:r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CDN-friendly, free scalability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24400" y="1136303"/>
            <a:ext cx="3962400" cy="3442097"/>
          </a:xfrm>
          <a:prstGeom prst="roundRect">
            <a:avLst>
              <a:gd name="adj" fmla="val 1476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02101" y="1288703"/>
            <a:ext cx="36791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/calculate </a:t>
            </a:r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902101" y="1447354"/>
            <a:ext cx="36791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</a:t>
            </a:r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application/json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902101" y="1656904"/>
            <a:ext cx="36791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{"operation":"add","a":15.5,"b":24.3}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02101" y="1866454"/>
            <a:ext cx="36791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-- 200 OK --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02101" y="2025104"/>
            <a:ext cx="36791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{"result": 39.8}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4705350"/>
            <a:ext cx="8394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A8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public APIs, mobile backends, CRUD services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55550"/>
            <a:ext cx="839419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0151"/>
            <a:ext cx="507950" cy="25301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136303"/>
            <a:ext cx="3962400" cy="1117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endpoint:</a:t>
            </a:r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POST /graphql for everything</a:t>
            </a:r>
            <a:endParaRPr lang="en-US" sz="1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controls fields:</a:t>
            </a:r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over-fetching</a:t>
            </a:r>
            <a:endParaRPr lang="en-US" sz="1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Strongly typed schema:</a:t>
            </a:r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SDL, introspectable</a:t>
            </a:r>
            <a:endParaRPr lang="en-US" sz="1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Mutations</a:t>
            </a:r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writes, </a:t>
            </a:r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subscriptions</a:t>
            </a:r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real-time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24400" y="1136303"/>
            <a:ext cx="3962400" cy="3442097"/>
          </a:xfrm>
          <a:prstGeom prst="roundRect">
            <a:avLst>
              <a:gd name="adj" fmla="val 1476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02101" y="1263253"/>
            <a:ext cx="36791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pPr algn="l"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902101" y="1402854"/>
            <a:ext cx="3679138" cy="114300"/>
          </a:xfrm>
          <a:prstGeom prst="rect">
            <a:avLst/>
          </a:prstGeom>
          <a:noFill/>
          <a:ln/>
        </p:spPr>
        <p:txBody>
          <a:bodyPr wrap="square" lIns="1778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calculate(a: 15.5, b: 24.3,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902101" y="1542455"/>
            <a:ext cx="3679138" cy="114300"/>
          </a:xfrm>
          <a:prstGeom prst="rect">
            <a:avLst/>
          </a:prstGeom>
          <a:noFill/>
          <a:ln/>
        </p:spPr>
        <p:txBody>
          <a:bodyPr wrap="square" lIns="1778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operation: "add") {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902101" y="1682055"/>
            <a:ext cx="3679138" cy="114300"/>
          </a:xfrm>
          <a:prstGeom prst="rect">
            <a:avLst/>
          </a:prstGeom>
          <a:noFill/>
          <a:ln/>
        </p:spPr>
        <p:txBody>
          <a:bodyPr wrap="square" lIns="3556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902101" y="1821656"/>
            <a:ext cx="3679138" cy="114300"/>
          </a:xfrm>
          <a:prstGeom prst="rect">
            <a:avLst/>
          </a:prstGeom>
          <a:noFill/>
          <a:ln/>
        </p:spPr>
        <p:txBody>
          <a:bodyPr wrap="square" lIns="3556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902101" y="1961257"/>
            <a:ext cx="3679138" cy="114300"/>
          </a:xfrm>
          <a:prstGeom prst="rect">
            <a:avLst/>
          </a:prstGeom>
          <a:noFill/>
          <a:ln/>
        </p:spPr>
        <p:txBody>
          <a:bodyPr wrap="square" lIns="1778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902101" y="2100858"/>
            <a:ext cx="36791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902101" y="2265908"/>
            <a:ext cx="36791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8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response --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902101" y="2430959"/>
            <a:ext cx="36791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"data": { "calculate": {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902101" y="2570559"/>
            <a:ext cx="36791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"result": 39.8,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902101" y="2710160"/>
            <a:ext cx="36791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"operation": "ADD" }}}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4705350"/>
            <a:ext cx="8394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A8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mobile BFF, dashboards, developer platforms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55550"/>
            <a:ext cx="839419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0151"/>
            <a:ext cx="507950" cy="25301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136303"/>
            <a:ext cx="3962400" cy="1117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protocol:</a:t>
            </a:r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Protobuf, ~3x smaller than JSON</a:t>
            </a:r>
            <a:endParaRPr lang="en-US" sz="1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HTTP/2:</a:t>
            </a:r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multiplexing, bidirectional streaming</a:t>
            </a:r>
            <a:endParaRPr lang="en-US" sz="1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Contract-first:</a:t>
            </a:r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.proto defines the API</a:t>
            </a:r>
            <a:endParaRPr lang="en-US" sz="1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modes:</a:t>
            </a:r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unary, server-stream, client-stream, bidi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24400" y="1136303"/>
            <a:ext cx="3962400" cy="3442097"/>
          </a:xfrm>
          <a:prstGeom prst="roundRect">
            <a:avLst>
              <a:gd name="adj" fmla="val 1476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02101" y="1288703"/>
            <a:ext cx="36791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</a:t>
            </a:r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CalculatorService</a:t>
            </a:r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902101" y="1447354"/>
            <a:ext cx="3679138" cy="133350"/>
          </a:xfrm>
          <a:prstGeom prst="rect">
            <a:avLst/>
          </a:prstGeom>
          <a:noFill/>
          <a:ln/>
        </p:spPr>
        <p:txBody>
          <a:bodyPr wrap="square" lIns="1778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rpc</a:t>
            </a:r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Calculate(Request)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902101" y="1606004"/>
            <a:ext cx="3679138" cy="133350"/>
          </a:xfrm>
          <a:prstGeom prst="rect">
            <a:avLst/>
          </a:prstGeom>
          <a:noFill/>
          <a:ln/>
        </p:spPr>
        <p:txBody>
          <a:bodyPr wrap="square" lIns="3556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 (Response);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02101" y="1764655"/>
            <a:ext cx="3679138" cy="133350"/>
          </a:xfrm>
          <a:prstGeom prst="rect">
            <a:avLst/>
          </a:prstGeom>
          <a:noFill/>
          <a:ln/>
        </p:spPr>
        <p:txBody>
          <a:bodyPr wrap="square" lIns="1778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rpc</a:t>
            </a:r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CalculateStream(Request)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02101" y="1923306"/>
            <a:ext cx="3679138" cy="133350"/>
          </a:xfrm>
          <a:prstGeom prst="rect">
            <a:avLst/>
          </a:prstGeom>
          <a:noFill/>
          <a:ln/>
        </p:spPr>
        <p:txBody>
          <a:bodyPr wrap="square" lIns="35560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 (</a:t>
            </a:r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</a:t>
            </a:r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Response);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02101" y="2081957"/>
            <a:ext cx="36791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4705350"/>
            <a:ext cx="8394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A8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internal microservices, IoT, real-time pipelines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55550"/>
            <a:ext cx="83941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31775"/>
            <a:ext cx="457200" cy="25301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860227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&amp; Format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30077"/>
          <a:ext cx="8229600" cy="3429000"/>
        </p:xfrm>
        <a:graphic>
          <a:graphicData uri="http://schemas.openxmlformats.org/drawingml/2006/table">
            <a:tbl>
              <a:tblPr/>
              <a:tblGrid>
                <a:gridCol w="1810512"/>
                <a:gridCol w="2139696"/>
                <a:gridCol w="2139696"/>
                <a:gridCol w="2139696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Transport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Schema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39BD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SOAP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 (any)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XML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WSDL mandatory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2E0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JSON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OpenAPI optional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194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GraphQL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JSON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SDL mandatory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7FB3D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gRPC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HTTP/2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Protobuf binary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.proto mandatory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55550"/>
            <a:ext cx="83941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31775"/>
            <a:ext cx="457200" cy="25301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860227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&amp; Security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30077"/>
          <a:ext cx="8229600" cy="3429000"/>
        </p:xfrm>
        <a:graphic>
          <a:graphicData uri="http://schemas.openxmlformats.org/drawingml/2006/table">
            <a:tbl>
              <a:tblPr/>
              <a:tblGrid>
                <a:gridCol w="1645920"/>
                <a:gridCol w="2221992"/>
                <a:gridCol w="2715768"/>
                <a:gridCol w="164592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Caching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39BD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SOAP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Slow (XML)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WS-Security, SAML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native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2E0A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 (JSON)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TLS, OAuth2, JWT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 cache / CDN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194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GraphQL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OAuth2 + directives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7FB3D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gRPC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(binary)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mTLS standard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native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WHAT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81000" y="555575"/>
            <a:ext cx="457200" cy="25301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758577"/>
            <a:ext cx="3911501" cy="1752600"/>
          </a:xfrm>
          <a:prstGeom prst="rect">
            <a:avLst/>
          </a:prstGeom>
          <a:solidFill>
            <a:srgbClr val="1320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4813" y="758577"/>
            <a:ext cx="0" cy="1752600"/>
          </a:xfrm>
          <a:prstGeom prst="line">
            <a:avLst/>
          </a:prstGeom>
          <a:noFill/>
          <a:ln w="47625">
            <a:solidFill>
              <a:srgbClr val="2E8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7225" y="936278"/>
            <a:ext cx="35007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7225" y="1212503"/>
            <a:ext cx="3500768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0C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Regulated industries: banking, healthcare, legacy ERP. When WS-Security or non-repudiation is legally required.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444901" y="758577"/>
            <a:ext cx="3911501" cy="1752600"/>
          </a:xfrm>
          <a:prstGeom prst="rect">
            <a:avLst/>
          </a:prstGeom>
          <a:solidFill>
            <a:srgbClr val="1320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468713" y="758577"/>
            <a:ext cx="0" cy="1752600"/>
          </a:xfrm>
          <a:prstGeom prst="line">
            <a:avLst/>
          </a:prstGeom>
          <a:noFill/>
          <a:ln w="47625">
            <a:solidFill>
              <a:srgbClr val="2E86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1126" y="936278"/>
            <a:ext cx="35007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21126" y="1212503"/>
            <a:ext cx="3500768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0C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APIs, mobile apps, CDN-cached content, third-party integrations.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1000" y="2900214"/>
            <a:ext cx="3911501" cy="1752600"/>
          </a:xfrm>
          <a:prstGeom prst="rect">
            <a:avLst/>
          </a:prstGeom>
          <a:solidFill>
            <a:srgbClr val="1320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04813" y="2900214"/>
            <a:ext cx="0" cy="1752600"/>
          </a:xfrm>
          <a:prstGeom prst="line">
            <a:avLst/>
          </a:prstGeom>
          <a:noFill/>
          <a:ln w="47625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7225" y="3077914"/>
            <a:ext cx="35007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7225" y="3354139"/>
            <a:ext cx="3500768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0C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 clients needing different data shapes. Mobile BFF, developer platforms, complex data graphs.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44901" y="2900214"/>
            <a:ext cx="3911501" cy="1752600"/>
          </a:xfrm>
          <a:prstGeom prst="rect">
            <a:avLst/>
          </a:prstGeom>
          <a:solidFill>
            <a:srgbClr val="1320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468713" y="2900214"/>
            <a:ext cx="0" cy="1752600"/>
          </a:xfrm>
          <a:prstGeom prst="line">
            <a:avLst/>
          </a:prstGeom>
          <a:noFill/>
          <a:ln w="47625">
            <a:solidFill>
              <a:srgbClr val="2E86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21126" y="3077914"/>
            <a:ext cx="35007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21126" y="3354139"/>
            <a:ext cx="3500768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0C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service-to-service calls. Performance-critical paths, streaming data, polyglot microservices.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EXAMPLES — THIS PROJECT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81000" y="555575"/>
            <a:ext cx="457200" cy="25301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758577"/>
            <a:ext cx="3962400" cy="1803350"/>
          </a:xfrm>
          <a:prstGeom prst="rect">
            <a:avLst/>
          </a:prstGeom>
          <a:solidFill>
            <a:srgbClr val="0F20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8701" y="910977"/>
            <a:ext cx="36791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SOAP / WSDL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58701" y="1139577"/>
            <a:ext cx="36791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7A8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zeep library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58701" y="1349127"/>
            <a:ext cx="3606998" cy="336352"/>
          </a:xfrm>
          <a:prstGeom prst="roundRect">
            <a:avLst>
              <a:gd name="adj" fmla="val 11327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5651" y="1450628"/>
            <a:ext cx="34201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examples/soap/client.py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470350" y="758577"/>
            <a:ext cx="3962400" cy="1803350"/>
          </a:xfrm>
          <a:prstGeom prst="rect">
            <a:avLst/>
          </a:prstGeom>
          <a:solidFill>
            <a:srgbClr val="0F20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48051" y="910977"/>
            <a:ext cx="36791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48051" y="1139577"/>
            <a:ext cx="36791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7A8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Flask framework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48051" y="1349127"/>
            <a:ext cx="3606998" cy="336352"/>
          </a:xfrm>
          <a:prstGeom prst="roundRect">
            <a:avLst>
              <a:gd name="adj" fmla="val 11327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75002" y="1450628"/>
            <a:ext cx="34201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examples/rest/client.py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1000" y="2887563"/>
            <a:ext cx="3962400" cy="1803350"/>
          </a:xfrm>
          <a:prstGeom prst="rect">
            <a:avLst/>
          </a:prstGeom>
          <a:solidFill>
            <a:srgbClr val="0F20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58701" y="3039963"/>
            <a:ext cx="36791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8701" y="3268563"/>
            <a:ext cx="36791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7A8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 + graphql-http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58701" y="3478113"/>
            <a:ext cx="3606998" cy="336352"/>
          </a:xfrm>
          <a:prstGeom prst="roundRect">
            <a:avLst>
              <a:gd name="adj" fmla="val 11327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5651" y="3579614"/>
            <a:ext cx="34201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examples/graphql/client.js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70350" y="2887563"/>
            <a:ext cx="3962400" cy="1803350"/>
          </a:xfrm>
          <a:prstGeom prst="rect">
            <a:avLst/>
          </a:prstGeom>
          <a:solidFill>
            <a:srgbClr val="0F20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648051" y="3039963"/>
            <a:ext cx="36791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48051" y="3268563"/>
            <a:ext cx="36791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7A8F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grpcio library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48051" y="3478113"/>
            <a:ext cx="3606998" cy="336352"/>
          </a:xfrm>
          <a:prstGeom prst="roundRect">
            <a:avLst>
              <a:gd name="adj" fmla="val 11327"/>
            </a:avLst>
          </a:prstGeom>
          <a:solidFill>
            <a:srgbClr val="1E1E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75002" y="3579614"/>
            <a:ext cx="34201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examples/grpc/client.py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55550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7950" y="606326"/>
            <a:ext cx="457200" cy="25301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885527"/>
            <a:ext cx="355550" cy="355550"/>
          </a:xfrm>
          <a:prstGeom prst="roundRect">
            <a:avLst>
              <a:gd name="adj" fmla="val 50007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4395" y="948928"/>
            <a:ext cx="362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1202" y="860227"/>
            <a:ext cx="77467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best technology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1202" y="1069777"/>
            <a:ext cx="77467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A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solves a different set of constraints.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7950" y="1494979"/>
            <a:ext cx="355550" cy="355550"/>
          </a:xfrm>
          <a:prstGeom prst="roundRect">
            <a:avLst>
              <a:gd name="adj" fmla="val 50007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4395" y="1558379"/>
            <a:ext cx="362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41202" y="1469678"/>
            <a:ext cx="77467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SOAP is not obsolete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41202" y="1679228"/>
            <a:ext cx="77467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A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WS-* compliance is legally required in banking and healthcare.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7950" y="2104430"/>
            <a:ext cx="355550" cy="355550"/>
          </a:xfrm>
          <a:prstGeom prst="roundRect">
            <a:avLst>
              <a:gd name="adj" fmla="val 50007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4395" y="2167830"/>
            <a:ext cx="362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41202" y="2079129"/>
            <a:ext cx="77467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 is surprisingly fast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41202" y="2288679"/>
            <a:ext cx="77467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A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Protobuf encoding is 3-5x smaller than equivalent JSON.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7950" y="2713881"/>
            <a:ext cx="355550" cy="355550"/>
          </a:xfrm>
          <a:prstGeom prst="roundRect">
            <a:avLst>
              <a:gd name="adj" fmla="val 50007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4395" y="2777282"/>
            <a:ext cx="362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41202" y="2688580"/>
            <a:ext cx="77467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GraphQL shifts complexity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41202" y="2898130"/>
            <a:ext cx="77467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A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over-fetching but requires DataLoader to avoid N+1 queries.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1000" y="1732062"/>
            <a:ext cx="762000" cy="50750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61920" y="2087612"/>
            <a:ext cx="342016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375477" y="3046363"/>
            <a:ext cx="239289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CSC8603 — TELECOM SudParis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121811" y="3268563"/>
            <a:ext cx="29002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8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Salim LAKHAL — Nossa IYAMU — February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Service-Oriented Communication Technologies</dc:title>
  <dc:subject>PptxGenJS Presentation</dc:subject>
  <dc:creator>Salim LAKHAL, Nossa IYAMU</dc:creator>
  <cp:lastModifiedBy>Salim LAKHAL, Nossa IYAMU</cp:lastModifiedBy>
  <cp:revision>1</cp:revision>
  <dcterms:created xsi:type="dcterms:W3CDTF">2026-02-20T15:06:46Z</dcterms:created>
  <dcterms:modified xsi:type="dcterms:W3CDTF">2026-02-20T15:06:46Z</dcterms:modified>
</cp:coreProperties>
</file>